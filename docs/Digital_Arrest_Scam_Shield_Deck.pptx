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ARREST SCAM SHIELD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58368" y="23317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detection of digital-arrest fraud calls — with multilingual citizen alerts and cross-victim intelligence.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58368" y="2926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6  ·  AI for Digital Public Safety — Defeating Counterfeiting, Fraud &amp; Digital Arrest Scams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3886200"/>
            <a:ext cx="2788920" cy="1600200"/>
          </a:xfrm>
          <a:prstGeom prst="roundRect">
            <a:avLst>
              <a:gd name="adj" fmla="val 5143"/>
            </a:avLst>
          </a:prstGeom>
          <a:solidFill>
            <a:srgbClr val="1D3A63"/>
          </a:solidFill>
          <a:ln w="9525">
            <a:solidFill>
              <a:srgbClr val="2F4D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0416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58368" y="47548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test calls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21608" y="3886200"/>
            <a:ext cx="2788920" cy="1600200"/>
          </a:xfrm>
          <a:prstGeom prst="roundRect">
            <a:avLst>
              <a:gd name="adj" fmla="val 5143"/>
            </a:avLst>
          </a:prstGeom>
          <a:solidFill>
            <a:srgbClr val="1D3A63"/>
          </a:solidFill>
          <a:ln w="9525">
            <a:solidFill>
              <a:srgbClr val="2F4D7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40416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721608" y="47548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89 legit calls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40 keyword traps)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84848" y="3886200"/>
            <a:ext cx="2788920" cy="1600200"/>
          </a:xfrm>
          <a:prstGeom prst="roundRect">
            <a:avLst>
              <a:gd name="adj" fmla="val 5143"/>
            </a:avLst>
          </a:prstGeom>
          <a:solidFill>
            <a:srgbClr val="1D3A63"/>
          </a:solidFill>
          <a:ln w="9525">
            <a:solidFill>
              <a:srgbClr val="2F4D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4041648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784848" y="475488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euphemistic scams caught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our adversarial fix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1.00, recall 1.00, FPR 0.00 — reported in full, with 95% confidence intervals, in the evaluation section.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Rs 1,776 crore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“Digital arrest” scams defrauded Indian citizens of over Rs 1,776 crore in just the first nine months of 2024 (Ministry of Home Affairs).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842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95528" y="26243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cybercrime complaints in India, 2023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4015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+60%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" y="40416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increase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8188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1,776 cr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95528" y="5458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digital arrest scams (9 months of 2024)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attack follows one psychological arc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224028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532888"/>
            <a:ext cx="475488" cy="47548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532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12280" y="23865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Authority impersonation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12280" y="275234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calling from CBI / Customs. A parcel in your name held drugs.”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0" y="347472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67328"/>
            <a:ext cx="475488" cy="475488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12280" y="36210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&amp; threat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12280" y="398678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a digital arrest. Do not disconnect or tell anyone.”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943600" y="470916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5001768"/>
            <a:ext cx="475488" cy="475488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5001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12280" y="48554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pressure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12280" y="5221224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“Transfer to this verification account — it’s refundable.”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943600" y="5989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4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phrase proves a scam — it is these three occurring TOGETHER that is diagnostic.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the scam while the call is still happening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reads a call transcript chunk by chunk, scores it against documented scam patterns, and warns the citizen in their own language before money moves — while logging the incident for police intelligence.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350008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313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27048" y="28072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chunk-by-chunk analysis — a verdict before the transfer request, not after the complaint.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205740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350008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3500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2313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150608" y="280720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over 20 documented scam patterns; every alert cites the patterns it matched — auditable.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24528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187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Multilingual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27048" y="46817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Fixed-safety citizen alerts in English, Hindi, Tamil and Kannada; template-based, offline, reliable.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349240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24528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1879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50608" y="4681728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Alert-level incidents cluster into suspected campaigns and geographic hotspots for law enforcement.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five-stage reasoning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LangGraph: each stage reads shared state and passes an enriched “case file” forward as the call streams in.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2148840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keyword pass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33472" y="237744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852928" y="1965960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2148840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44368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44368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20-pattern KB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57216" y="1965960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34456" y="214884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8" name="Text 16"/>
          <p:cNvSpPr/>
          <p:nvPr/>
        </p:nvSpPr>
        <p:spPr>
          <a:xfrm>
            <a:off x="5934456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248656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48656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signals + co-occurrence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42048" y="237744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461504" y="1965960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38744" y="2148840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24" name="Text 22"/>
          <p:cNvSpPr/>
          <p:nvPr/>
        </p:nvSpPr>
        <p:spPr>
          <a:xfrm>
            <a:off x="8238744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552944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52944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/ warn / alert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546336" y="237744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765792" y="1965960"/>
            <a:ext cx="210312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43032" y="2148840"/>
            <a:ext cx="548640" cy="54864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30" name="Text 28"/>
          <p:cNvSpPr/>
          <p:nvPr/>
        </p:nvSpPr>
        <p:spPr>
          <a:xfrm>
            <a:off x="10543032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857232" y="27432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57232" y="3264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alert + report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Alert-level incidents feed two cross-victim intelligence layers: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48640" y="4663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Fraud-network graph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841248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sharing scam-pattern fingerprints cluster into suspected coordinated campaigns (NetworkX).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466344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4652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intelligence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64808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hotspots and a lat/lon heatmap for patrol prioritisation and resource deployment.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is exposed over HTTP (WhatsApp / IVR webhooks) and over MCP — callable by a bank app, telecom screen, or another agent.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signals, one decision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 step rewards distinct risk categories appearing together across a session, and the score can never inflate without new evidence — a design choice that directly protects the false-positive rate.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377440"/>
            <a:ext cx="960120" cy="96012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filter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4069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cues for overt scam language: customs, CBI, digital arrest, verification account.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20574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05272" y="2377440"/>
            <a:ext cx="960120" cy="960120"/>
          </a:xfrm>
          <a:prstGeom prst="ellipse">
            <a:avLst/>
          </a:prstGeom>
          <a:solidFill>
            <a:srgbClr val="14294A"/>
          </a:solidFill>
          <a:ln/>
        </p:spPr>
      </p:sp>
      <p:sp>
        <p:nvSpPr>
          <p:cNvPr id="11" name="Text 9"/>
          <p:cNvSpPr/>
          <p:nvPr/>
        </p:nvSpPr>
        <p:spPr>
          <a:xfrm>
            <a:off x="5605272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07992" y="3474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retrieval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53712" y="4069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 against 20 documented scam patterns spanning all four risk categories.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2057400"/>
            <a:ext cx="3520440" cy="3108960"/>
          </a:xfrm>
          <a:prstGeom prst="roundRect">
            <a:avLst>
              <a:gd name="adj" fmla="val 2647"/>
            </a:avLst>
          </a:prstGeom>
          <a:solidFill>
            <a:srgbClr val="FFF6E6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381744" y="2377440"/>
            <a:ext cx="960120" cy="960120"/>
          </a:xfrm>
          <a:prstGeom prst="ellipse">
            <a:avLst/>
          </a:prstGeom>
          <a:solidFill>
            <a:srgbClr val="E8A317"/>
          </a:solidFill>
          <a:ln/>
        </p:spPr>
      </p:sp>
      <p:sp>
        <p:nvSpPr>
          <p:cNvPr id="16" name="Text 14"/>
          <p:cNvSpPr/>
          <p:nvPr/>
        </p:nvSpPr>
        <p:spPr>
          <a:xfrm>
            <a:off x="9381744" y="2377440"/>
            <a:ext cx="9601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84464" y="3474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Soft-coercion detector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0184" y="4069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NEW. Fires on isolation + directed transfer even with NO obvious keyword — catches euphemistic scams. A negation guard spares reassuring legit calls.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soft-coercion detector is what closed the adversarial blind spot — see the evaluation.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alert fires before the money moves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1704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scam call streams in, the suspicion score climbs chunk by chunk. The citizen is warned at the moment coercion becomes clear — turns before the transfer is even requested.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1D3A63"/>
          </a:solidFill>
          <a:ln w="9525">
            <a:solidFill>
              <a:srgbClr val="2F4D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B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/ customs opener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0" y="24780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0.30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32520" y="2404872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5A6675"/>
          </a:solidFill>
          <a:ln/>
        </p:spPr>
      </p:sp>
      <p:sp>
        <p:nvSpPr>
          <p:cNvPr id="9" name="Text 7"/>
          <p:cNvSpPr/>
          <p:nvPr/>
        </p:nvSpPr>
        <p:spPr>
          <a:xfrm>
            <a:off x="8732520" y="24048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1D3A63"/>
          </a:solidFill>
          <a:ln w="9525">
            <a:solidFill>
              <a:srgbClr val="2F4D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B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 not disconnect — digital arrest”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37124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0.60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732520" y="3639312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E8A317"/>
          </a:solidFill>
          <a:ln/>
        </p:spPr>
      </p:sp>
      <p:sp>
        <p:nvSpPr>
          <p:cNvPr id="15" name="Text 13"/>
          <p:cNvSpPr/>
          <p:nvPr/>
        </p:nvSpPr>
        <p:spPr>
          <a:xfrm>
            <a:off x="8732520" y="363931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7863840" cy="1005840"/>
          </a:xfrm>
          <a:prstGeom prst="roundRect">
            <a:avLst>
              <a:gd name="adj" fmla="val 7273"/>
            </a:avLst>
          </a:prstGeom>
          <a:solidFill>
            <a:srgbClr val="1D3A63"/>
          </a:solidFill>
          <a:ln w="9525">
            <a:solidFill>
              <a:srgbClr val="2F4D7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54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B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5074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“Transfer to verification account”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494690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0.85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32520" y="4873752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8732520" y="487375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shows this in real time, with the multilingual warning and the law-enforcement campaign / hotspot panel.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 adversarially — and honestly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shipped 5-call test set could not measure a low false-positive rate. We built a 168-call set that fights back: 40 keyword-trap legit calls and 16 euphemistic scams.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67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 + RAG only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1.000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68680" y="3145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0.797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547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 0.000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Euphemistic scams  0 / 16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4297680"/>
            <a:ext cx="4800600" cy="411480"/>
          </a:xfrm>
          <a:prstGeom prst="roundRect">
            <a:avLst>
              <a:gd name="adj" fmla="val 44444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97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spot: every soft-language scam missed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3492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21671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structural detector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 1.000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31455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 1.000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3547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FPR  0.000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92240" y="3950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Euphemistic scams  16 / 16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46520" y="4297680"/>
            <a:ext cx="4800600" cy="411480"/>
          </a:xfrm>
          <a:prstGeom prst="roundRect">
            <a:avLst>
              <a:gd name="adj" fmla="val 44444"/>
            </a:avLst>
          </a:prstGeom>
          <a:solidFill>
            <a:srgbClr val="2E9E5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29768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the gap — zero new false positives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hard → find a specific weakness → fix it at the structural level → re-test → confirm the fix costs nothing in false positives.  All metrics carry 95% bootstrap confidence intervals.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do — and don’t — mean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11556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score deserves scrutiny, not celebration. We state the limits plainly: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23042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Transcripts are authored from documented scripts, not real recordings — an upper bound on a clean distribution.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9019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 saw the test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64808" y="230428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detector’s cues knew these examples existed; a fully held-out test needs new adversarial or real calls.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410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FPR is on 89 negatives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1248" y="38130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signal the threshold is well placed — but a larger, messier set would likely surface a non-zero rate.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246120"/>
            <a:ext cx="534924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410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ceiling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64808" y="381304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lexical heuristic, not semantic understanding; production needs an LLM-based intent classifier.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4294A"/>
          </a:solidFill>
          <a:ln/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5029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defensible claim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precision and recall with zero false positives on a 168-call set that includes 40 keyword-trap negatives and 16 euphemistic scams — with the limitations of synthetic data stated.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honestly — and how it maps to judging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digital-arrest detection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20299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soft-coercion reasoning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Fraud-network campaign clustering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27980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hotspots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3182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citizen alerts (4 languages)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✓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MCP delivery, live dashboard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out / roadmap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Counterfeit-currency CV (separate model)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355080" y="20299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speech-to-text (faster-whisper wired)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55080" y="24140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AI-voice / deepfake detection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55080" y="279806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fraud graph (phone / UPI / device)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355080" y="31821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intent classifier for novel euphemisms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3566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→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free-text translation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with judging criteria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572000"/>
            <a:ext cx="5349240" cy="749808"/>
          </a:xfrm>
          <a:prstGeom prst="roundRect">
            <a:avLst>
              <a:gd name="adj" fmla="val 10976"/>
            </a:avLst>
          </a:prstGeom>
          <a:solidFill>
            <a:srgbClr val="EEF2F7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690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77240" y="4974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at point of contact; multilingual reach; police intelligence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72200" y="4572000"/>
            <a:ext cx="5349240" cy="749808"/>
          </a:xfrm>
          <a:prstGeom prst="roundRect">
            <a:avLst>
              <a:gd name="adj" fmla="val 10976"/>
            </a:avLst>
          </a:prstGeom>
          <a:solidFill>
            <a:srgbClr val="EEF2F7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46908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excellence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4974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pipeline; adversarial eval with CIs; honest ablation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5349240" cy="749808"/>
          </a:xfrm>
          <a:prstGeom prst="roundRect">
            <a:avLst>
              <a:gd name="adj" fmla="val 10976"/>
            </a:avLst>
          </a:prstGeom>
          <a:solidFill>
            <a:srgbClr val="EEF2F7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7240" y="5559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77240" y="5843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HTTP + MCP; embedded-or-server vector store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2200" y="5440680"/>
            <a:ext cx="5349240" cy="749808"/>
          </a:xfrm>
          <a:prstGeom prst="roundRect">
            <a:avLst>
              <a:gd name="adj" fmla="val 10976"/>
            </a:avLst>
          </a:prstGeom>
          <a:solidFill>
            <a:srgbClr val="EEF2F7"/>
          </a:solidFill>
          <a:ln w="6350">
            <a:solidFill>
              <a:srgbClr val="D3DB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5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0" y="5559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experience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00800" y="58430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dashboard; alerts before the money request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complaints to proactive prevention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25146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Arrest Scam Shield detects the scam at the point of contact, warns the citizen before money moves, and turns isolated incidents into actionable intelligence for law enforcement.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3794760"/>
            <a:ext cx="10835640" cy="1554480"/>
          </a:xfrm>
          <a:prstGeom prst="roundRect">
            <a:avLst>
              <a:gd name="adj" fmla="val 5294"/>
            </a:avLst>
          </a:prstGeom>
          <a:solidFill>
            <a:srgbClr val="1D3A63"/>
          </a:solidFill>
          <a:ln w="9525">
            <a:solidFill>
              <a:srgbClr val="2F4D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github.com/Simbalol2006/Digital-crime-arrest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RAG (Qdrant + BGE) · NetworkX · FastAPI · MCP · faster-whisper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93776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  →  python main.py   (runs fully offline)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6 · AI for Digital Public Safety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2026-07-22T17:01:14Z</dcterms:created>
  <dcterms:modified xsi:type="dcterms:W3CDTF">2026-07-22T17:01:14Z</dcterms:modified>
</cp:coreProperties>
</file>